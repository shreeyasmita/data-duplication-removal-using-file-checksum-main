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8"/>
  </p:notesMasterIdLst>
  <p:sldIdLst>
    <p:sldId id="257" r:id="rId2"/>
    <p:sldId id="256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libri" pitchFamily="34" charset="0"/>
      <p:regular r:id="rId9"/>
      <p:bold r:id="rId10"/>
      <p:italic r:id="rId11"/>
      <p:boldItalic r:id="rId12"/>
    </p:embeddedFont>
    <p:embeddedFont>
      <p:font typeface="Times New Roman Bold" charset="0"/>
      <p:regular r:id="rId13"/>
    </p:embeddedFont>
    <p:embeddedFont>
      <p:font typeface="Matura MT Script Capitals" pitchFamily="66" charset="0"/>
      <p:regular r:id="rId14"/>
    </p:embeddedFont>
    <p:embeddedFont>
      <p:font typeface="Cooper Black" pitchFamily="18" charset="0"/>
      <p:regular r:id="rId15"/>
    </p:embeddedFont>
    <p:embeddedFont>
      <p:font typeface="Stencil" pitchFamily="8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159" autoAdjust="0"/>
    <p:restoredTop sz="94622" autoAdjust="0"/>
  </p:normalViewPr>
  <p:slideViewPr>
    <p:cSldViewPr>
      <p:cViewPr varScale="1">
        <p:scale>
          <a:sx n="42" d="100"/>
          <a:sy n="42" d="100"/>
        </p:scale>
        <p:origin x="-796" y="-1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21876-080C-4764-9E96-CC050F53E55A}" type="datetimeFigureOut">
              <a:rPr lang="en-US" smtClean="0"/>
              <a:t>1/4/2026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B20F53-A3B1-41C7-8850-6BB10DF136C7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20F53-A3B1-41C7-8850-6BB10DF136C7}" type="slidenum">
              <a:rPr lang="en-US" smtClean="0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BB20F53-A3B1-41C7-8850-6BB10DF136C7}" type="slidenum">
              <a:rPr lang="en-US" smtClean="0"/>
              <a:t>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jpeg"/><Relationship Id="rId9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jpeg"/><Relationship Id="rId9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jpe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13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jpeg"/><Relationship Id="rId9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8.png"/><Relationship Id="rId5" Type="http://schemas.openxmlformats.org/officeDocument/2006/relationships/image" Target="../media/image4.png"/><Relationship Id="rId10" Type="http://schemas.openxmlformats.org/officeDocument/2006/relationships/image" Target="../media/image7.png"/><Relationship Id="rId4" Type="http://schemas.openxmlformats.org/officeDocument/2006/relationships/image" Target="../media/image3.jpeg"/><Relationship Id="rId9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5.svg"/><Relationship Id="rId12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7.png"/><Relationship Id="rId5" Type="http://schemas.openxmlformats.org/officeDocument/2006/relationships/image" Target="../media/image3.jpe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327855"/>
            <a:ext cx="1028700" cy="8987720"/>
            <a:chOff x="0" y="0"/>
            <a:chExt cx="270933" cy="23671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367136"/>
            </a:xfrm>
            <a:custGeom>
              <a:avLst/>
              <a:gdLst/>
              <a:ahLst/>
              <a:cxnLst/>
              <a:rect l="l" t="t" r="r" b="b"/>
              <a:pathLst>
                <a:path w="270933" h="2367136">
                  <a:moveTo>
                    <a:pt x="0" y="0"/>
                  </a:moveTo>
                  <a:lnTo>
                    <a:pt x="270933" y="0"/>
                  </a:lnTo>
                  <a:lnTo>
                    <a:pt x="270933" y="2367136"/>
                  </a:lnTo>
                  <a:lnTo>
                    <a:pt x="0" y="2367136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2405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028700" cy="1327855"/>
            <a:chOff x="0" y="0"/>
            <a:chExt cx="270933" cy="3497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349723"/>
            </a:xfrm>
            <a:custGeom>
              <a:avLst/>
              <a:gdLst/>
              <a:ahLst/>
              <a:cxnLst/>
              <a:rect l="l" t="t" r="r" b="b"/>
              <a:pathLst>
                <a:path w="270933" h="349723">
                  <a:moveTo>
                    <a:pt x="0" y="0"/>
                  </a:moveTo>
                  <a:lnTo>
                    <a:pt x="270933" y="0"/>
                  </a:lnTo>
                  <a:lnTo>
                    <a:pt x="270933" y="349723"/>
                  </a:lnTo>
                  <a:lnTo>
                    <a:pt x="0" y="349723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87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9618951" y="-7409150"/>
            <a:ext cx="78799" cy="17259300"/>
            <a:chOff x="0" y="0"/>
            <a:chExt cx="20754" cy="45456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54" cy="4545659"/>
            </a:xfrm>
            <a:custGeom>
              <a:avLst/>
              <a:gdLst/>
              <a:ahLst/>
              <a:cxnLst/>
              <a:rect l="l" t="t" r="r" b="b"/>
              <a:pathLst>
                <a:path w="20754" h="4545659">
                  <a:moveTo>
                    <a:pt x="0" y="0"/>
                  </a:moveTo>
                  <a:lnTo>
                    <a:pt x="20754" y="0"/>
                  </a:lnTo>
                  <a:lnTo>
                    <a:pt x="20754" y="4545659"/>
                  </a:lnTo>
                  <a:lnTo>
                    <a:pt x="0" y="4545659"/>
                  </a:lnTo>
                  <a:close/>
                </a:path>
              </a:pathLst>
            </a:custGeom>
            <a:solidFill>
              <a:srgbClr val="BD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754" cy="4583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87973" y="9720383"/>
            <a:ext cx="7492074" cy="451420"/>
            <a:chOff x="0" y="0"/>
            <a:chExt cx="9989432" cy="601894"/>
          </a:xfrm>
        </p:grpSpPr>
        <p:sp>
          <p:nvSpPr>
            <p:cNvPr id="12" name="Freeform 12"/>
            <p:cNvSpPr/>
            <p:nvPr/>
          </p:nvSpPr>
          <p:spPr>
            <a:xfrm>
              <a:off x="651480" y="0"/>
              <a:ext cx="586069" cy="601894"/>
            </a:xfrm>
            <a:custGeom>
              <a:avLst/>
              <a:gdLst/>
              <a:ahLst/>
              <a:cxnLst/>
              <a:rect l="l" t="t" r="r" b="b"/>
              <a:pathLst>
                <a:path w="586069" h="601894">
                  <a:moveTo>
                    <a:pt x="0" y="0"/>
                  </a:moveTo>
                  <a:lnTo>
                    <a:pt x="586068" y="0"/>
                  </a:lnTo>
                  <a:lnTo>
                    <a:pt x="586068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267359" y="0"/>
              <a:ext cx="696718" cy="601894"/>
            </a:xfrm>
            <a:custGeom>
              <a:avLst/>
              <a:gdLst/>
              <a:ahLst/>
              <a:cxnLst/>
              <a:rect l="l" t="t" r="r" b="b"/>
              <a:pathLst>
                <a:path w="696718" h="601894">
                  <a:moveTo>
                    <a:pt x="0" y="0"/>
                  </a:moveTo>
                  <a:lnTo>
                    <a:pt x="696717" y="0"/>
                  </a:lnTo>
                  <a:lnTo>
                    <a:pt x="696717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93887" y="0"/>
              <a:ext cx="627997" cy="601894"/>
            </a:xfrm>
            <a:custGeom>
              <a:avLst/>
              <a:gdLst/>
              <a:ahLst/>
              <a:cxnLst/>
              <a:rect l="l" t="t" r="r" b="b"/>
              <a:pathLst>
                <a:path w="627997" h="601894">
                  <a:moveTo>
                    <a:pt x="0" y="0"/>
                  </a:moveTo>
                  <a:lnTo>
                    <a:pt x="627997" y="0"/>
                  </a:lnTo>
                  <a:lnTo>
                    <a:pt x="627997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601894" cy="601894"/>
            </a:xfrm>
            <a:custGeom>
              <a:avLst/>
              <a:gdLst/>
              <a:ahLst/>
              <a:cxnLst/>
              <a:rect l="l" t="t" r="r" b="b"/>
              <a:pathLst>
                <a:path w="601894" h="601894">
                  <a:moveTo>
                    <a:pt x="0" y="0"/>
                  </a:moveTo>
                  <a:lnTo>
                    <a:pt x="601894" y="0"/>
                  </a:lnTo>
                  <a:lnTo>
                    <a:pt x="601894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651694" y="53066"/>
              <a:ext cx="741981" cy="495763"/>
            </a:xfrm>
            <a:custGeom>
              <a:avLst/>
              <a:gdLst/>
              <a:ahLst/>
              <a:cxnLst/>
              <a:rect l="l" t="t" r="r" b="b"/>
              <a:pathLst>
                <a:path w="741981" h="495763">
                  <a:moveTo>
                    <a:pt x="0" y="0"/>
                  </a:moveTo>
                  <a:lnTo>
                    <a:pt x="741981" y="0"/>
                  </a:lnTo>
                  <a:lnTo>
                    <a:pt x="741981" y="495762"/>
                  </a:lnTo>
                  <a:lnTo>
                    <a:pt x="0" y="49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 cstate="print">
                <a:extLs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 r="-20122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3393675" y="869"/>
              <a:ext cx="6595756" cy="5430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8"/>
                </a:lnSpc>
              </a:pPr>
              <a:r>
                <a:rPr lang="en-US" sz="2413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NIST CLOUD COMPUTING CLUB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9618950" y="889408"/>
            <a:ext cx="78799" cy="17259300"/>
            <a:chOff x="0" y="0"/>
            <a:chExt cx="20754" cy="45456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754" cy="4545659"/>
            </a:xfrm>
            <a:custGeom>
              <a:avLst/>
              <a:gdLst/>
              <a:ahLst/>
              <a:cxnLst/>
              <a:rect l="l" t="t" r="r" b="b"/>
              <a:pathLst>
                <a:path w="20754" h="4545659">
                  <a:moveTo>
                    <a:pt x="0" y="0"/>
                  </a:moveTo>
                  <a:lnTo>
                    <a:pt x="20754" y="0"/>
                  </a:lnTo>
                  <a:lnTo>
                    <a:pt x="20754" y="4545659"/>
                  </a:lnTo>
                  <a:lnTo>
                    <a:pt x="0" y="4545659"/>
                  </a:lnTo>
                  <a:close/>
                </a:path>
              </a:pathLst>
            </a:custGeom>
            <a:solidFill>
              <a:srgbClr val="BD0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754" cy="4583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6288928" y="0"/>
            <a:ext cx="1999072" cy="1249056"/>
          </a:xfrm>
          <a:custGeom>
            <a:avLst/>
            <a:gdLst/>
            <a:ahLst/>
            <a:cxnLst/>
            <a:rect l="l" t="t" r="r" b="b"/>
            <a:pathLst>
              <a:path w="1999072" h="1249056">
                <a:moveTo>
                  <a:pt x="0" y="0"/>
                </a:moveTo>
                <a:lnTo>
                  <a:pt x="1999072" y="0"/>
                </a:lnTo>
                <a:lnTo>
                  <a:pt x="1999072" y="1249056"/>
                </a:lnTo>
                <a:lnTo>
                  <a:pt x="0" y="12490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22516" t="-19610" b="-41045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989458" y="110285"/>
            <a:ext cx="10309083" cy="895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502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NIST CLOUD COMPUTING CLUB</a:t>
            </a:r>
          </a:p>
        </p:txBody>
      </p:sp>
      <p:sp>
        <p:nvSpPr>
          <p:cNvPr id="23" name="Freeform 23"/>
          <p:cNvSpPr/>
          <p:nvPr/>
        </p:nvSpPr>
        <p:spPr>
          <a:xfrm>
            <a:off x="5867400" y="2476500"/>
            <a:ext cx="7995538" cy="7380900"/>
          </a:xfrm>
          <a:custGeom>
            <a:avLst/>
            <a:gdLst/>
            <a:ahLst/>
            <a:cxnLst/>
            <a:rect l="l" t="t" r="r" b="b"/>
            <a:pathLst>
              <a:path w="7995538" h="7380900">
                <a:moveTo>
                  <a:pt x="0" y="0"/>
                </a:moveTo>
                <a:lnTo>
                  <a:pt x="7995538" y="0"/>
                </a:lnTo>
                <a:lnTo>
                  <a:pt x="7995538" y="7380900"/>
                </a:lnTo>
                <a:lnTo>
                  <a:pt x="0" y="7380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6000"/>
            </a:blip>
            <a:stretch>
              <a:fillRect l="-2689" t="-14154" r="-2689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24" name="Freeform 24"/>
          <p:cNvSpPr/>
          <p:nvPr/>
        </p:nvSpPr>
        <p:spPr>
          <a:xfrm>
            <a:off x="1028700" y="5929"/>
            <a:ext cx="1557548" cy="1203727"/>
          </a:xfrm>
          <a:custGeom>
            <a:avLst/>
            <a:gdLst/>
            <a:ahLst/>
            <a:cxnLst/>
            <a:rect l="l" t="t" r="r" b="b"/>
            <a:pathLst>
              <a:path w="1557548" h="1203727">
                <a:moveTo>
                  <a:pt x="0" y="0"/>
                </a:moveTo>
                <a:lnTo>
                  <a:pt x="1557548" y="0"/>
                </a:lnTo>
                <a:lnTo>
                  <a:pt x="1557548" y="1203728"/>
                </a:lnTo>
                <a:lnTo>
                  <a:pt x="0" y="1203728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/>
            <a:stretch>
              <a:fillRect l="-2689" t="-16906" r="-2689" b="-19446"/>
            </a:stretch>
          </a:blipFill>
        </p:spPr>
      </p:sp>
      <p:sp>
        <p:nvSpPr>
          <p:cNvPr id="25" name="TextBox 25"/>
          <p:cNvSpPr txBox="1"/>
          <p:nvPr/>
        </p:nvSpPr>
        <p:spPr>
          <a:xfrm rot="-5400000">
            <a:off x="-4706867" y="4715308"/>
            <a:ext cx="10309083" cy="89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5028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NIST University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9701333"/>
            <a:ext cx="818347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CopyRights are Resereved At NIST Cloud Computing Club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67200" y="3162300"/>
            <a:ext cx="154686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96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Matura MT Script Capitals" pitchFamily="66" charset="0"/>
              </a:rPr>
              <a:t>Cloud Computing</a:t>
            </a:r>
            <a:endParaRPr lang="en-US" sz="9600" b="1" dirty="0">
              <a:solidFill>
                <a:schemeClr val="tx1">
                  <a:lumMod val="85000"/>
                  <a:lumOff val="15000"/>
                </a:schemeClr>
              </a:solidFill>
              <a:latin typeface="Matura MT Script Capitals" pitchFamily="66" charset="0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810000" y="4381500"/>
            <a:ext cx="12039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000" dirty="0" smtClean="0">
                <a:solidFill>
                  <a:schemeClr val="bg2">
                    <a:lumMod val="25000"/>
                  </a:schemeClr>
                </a:solidFill>
                <a:latin typeface="Cooper Black" pitchFamily="18" charset="0"/>
              </a:rPr>
              <a:t>(The </a:t>
            </a:r>
            <a:r>
              <a:rPr lang="en-US" sz="4000" dirty="0" smtClean="0">
                <a:solidFill>
                  <a:schemeClr val="bg2">
                    <a:lumMod val="25000"/>
                  </a:schemeClr>
                </a:solidFill>
                <a:latin typeface="Cooper Black" pitchFamily="18" charset="0"/>
              </a:rPr>
              <a:t>Future of Digital </a:t>
            </a:r>
            <a:r>
              <a:rPr lang="en-US" sz="4000" dirty="0" smtClean="0">
                <a:solidFill>
                  <a:schemeClr val="bg2">
                    <a:lumMod val="25000"/>
                  </a:schemeClr>
                </a:solidFill>
                <a:latin typeface="Cooper Black" pitchFamily="18" charset="0"/>
              </a:rPr>
              <a:t>Infrastructure)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327855"/>
            <a:ext cx="1028700" cy="8987720"/>
            <a:chOff x="0" y="0"/>
            <a:chExt cx="270933" cy="23671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367136"/>
            </a:xfrm>
            <a:custGeom>
              <a:avLst/>
              <a:gdLst/>
              <a:ahLst/>
              <a:cxnLst/>
              <a:rect l="l" t="t" r="r" b="b"/>
              <a:pathLst>
                <a:path w="270933" h="2367136">
                  <a:moveTo>
                    <a:pt x="0" y="0"/>
                  </a:moveTo>
                  <a:lnTo>
                    <a:pt x="270933" y="0"/>
                  </a:lnTo>
                  <a:lnTo>
                    <a:pt x="270933" y="2367136"/>
                  </a:lnTo>
                  <a:lnTo>
                    <a:pt x="0" y="2367136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2405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028700" cy="1327855"/>
            <a:chOff x="0" y="0"/>
            <a:chExt cx="270933" cy="3497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349723"/>
            </a:xfrm>
            <a:custGeom>
              <a:avLst/>
              <a:gdLst/>
              <a:ahLst/>
              <a:cxnLst/>
              <a:rect l="l" t="t" r="r" b="b"/>
              <a:pathLst>
                <a:path w="270933" h="349723">
                  <a:moveTo>
                    <a:pt x="0" y="0"/>
                  </a:moveTo>
                  <a:lnTo>
                    <a:pt x="270933" y="0"/>
                  </a:lnTo>
                  <a:lnTo>
                    <a:pt x="270933" y="349723"/>
                  </a:lnTo>
                  <a:lnTo>
                    <a:pt x="0" y="349723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87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9618950" y="-7380594"/>
            <a:ext cx="78799" cy="17259300"/>
            <a:chOff x="0" y="0"/>
            <a:chExt cx="20754" cy="45456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54" cy="4545659"/>
            </a:xfrm>
            <a:custGeom>
              <a:avLst/>
              <a:gdLst/>
              <a:ahLst/>
              <a:cxnLst/>
              <a:rect l="l" t="t" r="r" b="b"/>
              <a:pathLst>
                <a:path w="20754" h="4545659">
                  <a:moveTo>
                    <a:pt x="0" y="0"/>
                  </a:moveTo>
                  <a:lnTo>
                    <a:pt x="20754" y="0"/>
                  </a:lnTo>
                  <a:lnTo>
                    <a:pt x="20754" y="4545659"/>
                  </a:lnTo>
                  <a:lnTo>
                    <a:pt x="0" y="4545659"/>
                  </a:lnTo>
                  <a:close/>
                </a:path>
              </a:pathLst>
            </a:custGeom>
            <a:solidFill>
              <a:srgbClr val="BD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754" cy="4583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87973" y="9720383"/>
            <a:ext cx="7492074" cy="451420"/>
            <a:chOff x="0" y="0"/>
            <a:chExt cx="9989432" cy="601894"/>
          </a:xfrm>
        </p:grpSpPr>
        <p:sp>
          <p:nvSpPr>
            <p:cNvPr id="12" name="Freeform 12"/>
            <p:cNvSpPr/>
            <p:nvPr/>
          </p:nvSpPr>
          <p:spPr>
            <a:xfrm>
              <a:off x="651480" y="0"/>
              <a:ext cx="586069" cy="601894"/>
            </a:xfrm>
            <a:custGeom>
              <a:avLst/>
              <a:gdLst/>
              <a:ahLst/>
              <a:cxnLst/>
              <a:rect l="l" t="t" r="r" b="b"/>
              <a:pathLst>
                <a:path w="586069" h="601894">
                  <a:moveTo>
                    <a:pt x="0" y="0"/>
                  </a:moveTo>
                  <a:lnTo>
                    <a:pt x="586068" y="0"/>
                  </a:lnTo>
                  <a:lnTo>
                    <a:pt x="586068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267359" y="0"/>
              <a:ext cx="696718" cy="601894"/>
            </a:xfrm>
            <a:custGeom>
              <a:avLst/>
              <a:gdLst/>
              <a:ahLst/>
              <a:cxnLst/>
              <a:rect l="l" t="t" r="r" b="b"/>
              <a:pathLst>
                <a:path w="696718" h="601894">
                  <a:moveTo>
                    <a:pt x="0" y="0"/>
                  </a:moveTo>
                  <a:lnTo>
                    <a:pt x="696717" y="0"/>
                  </a:lnTo>
                  <a:lnTo>
                    <a:pt x="696717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93887" y="0"/>
              <a:ext cx="627997" cy="601894"/>
            </a:xfrm>
            <a:custGeom>
              <a:avLst/>
              <a:gdLst/>
              <a:ahLst/>
              <a:cxnLst/>
              <a:rect l="l" t="t" r="r" b="b"/>
              <a:pathLst>
                <a:path w="627997" h="601894">
                  <a:moveTo>
                    <a:pt x="0" y="0"/>
                  </a:moveTo>
                  <a:lnTo>
                    <a:pt x="627997" y="0"/>
                  </a:lnTo>
                  <a:lnTo>
                    <a:pt x="627997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601894" cy="601894"/>
            </a:xfrm>
            <a:custGeom>
              <a:avLst/>
              <a:gdLst/>
              <a:ahLst/>
              <a:cxnLst/>
              <a:rect l="l" t="t" r="r" b="b"/>
              <a:pathLst>
                <a:path w="601894" h="601894">
                  <a:moveTo>
                    <a:pt x="0" y="0"/>
                  </a:moveTo>
                  <a:lnTo>
                    <a:pt x="601894" y="0"/>
                  </a:lnTo>
                  <a:lnTo>
                    <a:pt x="601894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651694" y="53066"/>
              <a:ext cx="741981" cy="495763"/>
            </a:xfrm>
            <a:custGeom>
              <a:avLst/>
              <a:gdLst/>
              <a:ahLst/>
              <a:cxnLst/>
              <a:rect l="l" t="t" r="r" b="b"/>
              <a:pathLst>
                <a:path w="741981" h="495763">
                  <a:moveTo>
                    <a:pt x="0" y="0"/>
                  </a:moveTo>
                  <a:lnTo>
                    <a:pt x="741981" y="0"/>
                  </a:lnTo>
                  <a:lnTo>
                    <a:pt x="741981" y="495762"/>
                  </a:lnTo>
                  <a:lnTo>
                    <a:pt x="0" y="49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 cstate="print">
                <a:extLs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 r="-20122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3393675" y="869"/>
              <a:ext cx="6595756" cy="5430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8"/>
                </a:lnSpc>
              </a:pPr>
              <a:r>
                <a:rPr lang="en-US" sz="2413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NIST CLOUD COMPUTING CLUB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9618950" y="889408"/>
            <a:ext cx="78799" cy="17259300"/>
            <a:chOff x="0" y="0"/>
            <a:chExt cx="20754" cy="45456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754" cy="4545659"/>
            </a:xfrm>
            <a:custGeom>
              <a:avLst/>
              <a:gdLst/>
              <a:ahLst/>
              <a:cxnLst/>
              <a:rect l="l" t="t" r="r" b="b"/>
              <a:pathLst>
                <a:path w="20754" h="4545659">
                  <a:moveTo>
                    <a:pt x="0" y="0"/>
                  </a:moveTo>
                  <a:lnTo>
                    <a:pt x="20754" y="0"/>
                  </a:lnTo>
                  <a:lnTo>
                    <a:pt x="20754" y="4545659"/>
                  </a:lnTo>
                  <a:lnTo>
                    <a:pt x="0" y="4545659"/>
                  </a:lnTo>
                  <a:close/>
                </a:path>
              </a:pathLst>
            </a:custGeom>
            <a:solidFill>
              <a:srgbClr val="BD0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754" cy="4583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6288928" y="0"/>
            <a:ext cx="1999072" cy="1249056"/>
          </a:xfrm>
          <a:custGeom>
            <a:avLst/>
            <a:gdLst/>
            <a:ahLst/>
            <a:cxnLst/>
            <a:rect l="l" t="t" r="r" b="b"/>
            <a:pathLst>
              <a:path w="1999072" h="1249056">
                <a:moveTo>
                  <a:pt x="0" y="0"/>
                </a:moveTo>
                <a:lnTo>
                  <a:pt x="1999072" y="0"/>
                </a:lnTo>
                <a:lnTo>
                  <a:pt x="1999072" y="1249056"/>
                </a:lnTo>
                <a:lnTo>
                  <a:pt x="0" y="12490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22516" t="-19610" b="-41045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989458" y="110285"/>
            <a:ext cx="10309083" cy="895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502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NIST CLOUD COMPUTING CLUB</a:t>
            </a:r>
          </a:p>
        </p:txBody>
      </p:sp>
      <p:sp>
        <p:nvSpPr>
          <p:cNvPr id="23" name="Freeform 23"/>
          <p:cNvSpPr/>
          <p:nvPr/>
        </p:nvSpPr>
        <p:spPr>
          <a:xfrm>
            <a:off x="7315200" y="2906100"/>
            <a:ext cx="7995538" cy="7380900"/>
          </a:xfrm>
          <a:custGeom>
            <a:avLst/>
            <a:gdLst/>
            <a:ahLst/>
            <a:cxnLst/>
            <a:rect l="l" t="t" r="r" b="b"/>
            <a:pathLst>
              <a:path w="7995538" h="7380900">
                <a:moveTo>
                  <a:pt x="0" y="0"/>
                </a:moveTo>
                <a:lnTo>
                  <a:pt x="7995538" y="0"/>
                </a:lnTo>
                <a:lnTo>
                  <a:pt x="7995538" y="7380900"/>
                </a:lnTo>
                <a:lnTo>
                  <a:pt x="0" y="7380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6000"/>
            </a:blip>
            <a:stretch>
              <a:fillRect l="-2689" t="-14154" r="-2689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28700" y="5929"/>
            <a:ext cx="1557548" cy="1203727"/>
          </a:xfrm>
          <a:custGeom>
            <a:avLst/>
            <a:gdLst/>
            <a:ahLst/>
            <a:cxnLst/>
            <a:rect l="l" t="t" r="r" b="b"/>
            <a:pathLst>
              <a:path w="1557548" h="1203727">
                <a:moveTo>
                  <a:pt x="0" y="0"/>
                </a:moveTo>
                <a:lnTo>
                  <a:pt x="1557548" y="0"/>
                </a:lnTo>
                <a:lnTo>
                  <a:pt x="1557548" y="1203728"/>
                </a:lnTo>
                <a:lnTo>
                  <a:pt x="0" y="1203728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/>
            <a:stretch>
              <a:fillRect l="-2689" t="-16906" r="-2689" b="-19446"/>
            </a:stretch>
          </a:blipFill>
        </p:spPr>
      </p:sp>
      <p:sp>
        <p:nvSpPr>
          <p:cNvPr id="25" name="TextBox 25"/>
          <p:cNvSpPr txBox="1"/>
          <p:nvPr/>
        </p:nvSpPr>
        <p:spPr>
          <a:xfrm rot="-5400000">
            <a:off x="-4706867" y="4715308"/>
            <a:ext cx="10309083" cy="89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5028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NIST University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9701333"/>
            <a:ext cx="818347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CopyRights are Resereved At NIST Cloud Computing Club</a:t>
            </a:r>
          </a:p>
        </p:txBody>
      </p:sp>
      <p:sp>
        <p:nvSpPr>
          <p:cNvPr id="27" name="Text Placeholder 2"/>
          <p:cNvSpPr txBox="1">
            <a:spLocks/>
          </p:cNvSpPr>
          <p:nvPr/>
        </p:nvSpPr>
        <p:spPr>
          <a:xfrm>
            <a:off x="1524000" y="2400300"/>
            <a:ext cx="11582400" cy="6781800"/>
          </a:xfrm>
          <a:prstGeom prst="rect">
            <a:avLst/>
          </a:prstGeom>
        </p:spPr>
        <p:txBody>
          <a:bodyPr vert="horz" wrap="square" lIns="91440" tIns="45720" rIns="91440" bIns="45720" rtlCol="0" anchor="t">
            <a:normAutofit/>
          </a:bodyPr>
          <a:lstStyle>
            <a:def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None/>
              <a:defRPr lang="en-US" sz="3200" b="0" i="0" u="none" strike="noStrike" kern="120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Micro Hei" pitchFamily="2"/>
                <a:cs typeface="Lohit Hindi" pitchFamily="2"/>
              </a:defRPr>
            </a:defPPr>
            <a:lvl1pPr marL="432000" lvl="0" indent="-324000">
              <a:spcBef>
                <a:spcPts val="0"/>
              </a:spcBef>
              <a:spcAft>
                <a:spcPts val="1417"/>
              </a:spcAft>
              <a:buSzPct val="45000"/>
              <a:buFont typeface="StarSymbol"/>
              <a:buChar char="●"/>
              <a:defRPr lang="en-US" sz="3200" b="0" i="0" u="none" strike="noStrike" kern="120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Micro Hei" pitchFamily="2"/>
                <a:cs typeface="Lohit Hindi" pitchFamily="2"/>
              </a:defRPr>
            </a:lvl1pPr>
            <a:lvl2pPr marL="864000" lvl="1" indent="-324000">
              <a:spcBef>
                <a:spcPts val="0"/>
              </a:spcBef>
              <a:spcAft>
                <a:spcPts val="1134"/>
              </a:spcAft>
              <a:buSzPct val="75000"/>
              <a:buFont typeface="StarSymbol"/>
              <a:buChar char="–"/>
              <a:defRPr lang="en-US" sz="2800" b="0" i="0" u="none" strike="noStrike" kern="120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Micro Hei" pitchFamily="2"/>
                <a:cs typeface="Lohit Hindi" pitchFamily="2"/>
              </a:defRPr>
            </a:lvl2pPr>
            <a:lvl3pPr marL="1295999" lvl="2" indent="-288000">
              <a:spcBef>
                <a:spcPts val="0"/>
              </a:spcBef>
              <a:spcAft>
                <a:spcPts val="850"/>
              </a:spcAft>
              <a:buSzPct val="45000"/>
              <a:buFont typeface="StarSymbol"/>
              <a:buChar char="●"/>
              <a:defRPr lang="en-US" sz="2400" b="0" i="0" u="none" strike="noStrike" kern="120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Micro Hei" pitchFamily="2"/>
                <a:cs typeface="Lohit Hindi" pitchFamily="2"/>
              </a:defRPr>
            </a:lvl3pPr>
            <a:lvl4pPr marL="1728000" lvl="3" indent="-216000">
              <a:spcBef>
                <a:spcPts val="0"/>
              </a:spcBef>
              <a:spcAft>
                <a:spcPts val="567"/>
              </a:spcAft>
              <a:buSzPct val="75000"/>
              <a:buFont typeface="StarSymbol"/>
              <a:buChar char="–"/>
              <a:defRPr lang="en-US" sz="2000" b="0" i="0" u="none" strike="noStrike" kern="120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Micro Hei" pitchFamily="2"/>
                <a:cs typeface="Lohit Hindi" pitchFamily="2"/>
              </a:defRPr>
            </a:lvl4pPr>
            <a:lvl5pPr marL="2160000" lvl="4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Micro Hei" pitchFamily="2"/>
                <a:cs typeface="Lohit Hindi" pitchFamily="2"/>
              </a:defRPr>
            </a:lvl5pPr>
            <a:lvl6pPr marL="2592000" lvl="5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Micro Hei" pitchFamily="2"/>
                <a:cs typeface="Lohit Hindi" pitchFamily="2"/>
              </a:defRPr>
            </a:lvl6pPr>
            <a:lvl7pPr marL="3024000" lvl="6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Micro Hei" pitchFamily="2"/>
                <a:cs typeface="Lohit Hindi" pitchFamily="2"/>
              </a:defRPr>
            </a:lvl7pPr>
            <a:lvl8pPr marL="3456000" lvl="7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Micro Hei" pitchFamily="2"/>
                <a:cs typeface="Lohit Hindi" pitchFamily="2"/>
              </a:defRPr>
            </a:lvl8pPr>
            <a:lvl9pPr marL="3887999" lvl="8" indent="-216000">
              <a:spcBef>
                <a:spcPts val="0"/>
              </a:spcBef>
              <a:spcAft>
                <a:spcPts val="283"/>
              </a:spcAft>
              <a:buSzPct val="45000"/>
              <a:buFont typeface="StarSymbol"/>
              <a:buChar char="●"/>
              <a:defRPr lang="en-US" sz="2000" b="0" i="0" u="none" strike="noStrike" kern="1200">
                <a:ln>
                  <a:noFill/>
                </a:ln>
                <a:solidFill>
                  <a:srgbClr val="FFFFFF"/>
                </a:solidFill>
                <a:latin typeface="Arial" pitchFamily="18"/>
                <a:ea typeface="WenQuanYi Micro Hei" pitchFamily="2"/>
                <a:cs typeface="Lohit Hindi" pitchFamily="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17"/>
              </a:spcAft>
              <a:buClrTx/>
              <a:buSzPct val="45000"/>
              <a:buFont typeface="Wingdings" pitchFamily="2" charset="2"/>
              <a:buChar char="q"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WenQuanYi Micro Hei" pitchFamily="2"/>
                <a:cs typeface="Times New Roman" pitchFamily="18" charset="0"/>
              </a:rPr>
              <a:t> What is the cloud computing?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17"/>
              </a:spcAft>
              <a:buClrTx/>
              <a:buSzPct val="45000"/>
              <a:buFont typeface="Wingdings" pitchFamily="2" charset="2"/>
              <a:buChar char="q"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WenQuanYi Micro Hei" pitchFamily="2"/>
                <a:cs typeface="Times New Roman" pitchFamily="18" charset="0"/>
              </a:rPr>
              <a:t> Cloud  Computing Components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17"/>
              </a:spcAft>
              <a:buClrTx/>
              <a:buSzPct val="45000"/>
              <a:buFont typeface="Wingdings" pitchFamily="2" charset="2"/>
              <a:buChar char="q"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WenQuanYi Micro Hei" pitchFamily="2"/>
                <a:cs typeface="Times New Roman" pitchFamily="18" charset="0"/>
              </a:rPr>
              <a:t> Service Models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17"/>
              </a:spcAft>
              <a:buClrTx/>
              <a:buSzPct val="45000"/>
              <a:buFont typeface="Wingdings" pitchFamily="2" charset="2"/>
              <a:buChar char="q"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WenQuanYi Micro Hei" pitchFamily="2"/>
                <a:cs typeface="Times New Roman" pitchFamily="18" charset="0"/>
              </a:rPr>
              <a:t> Deployment Models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17"/>
              </a:spcAft>
              <a:buClrTx/>
              <a:buSzPct val="45000"/>
              <a:buFont typeface="Wingdings" pitchFamily="2" charset="2"/>
              <a:buChar char="q"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WenQuanYi Micro Hei" pitchFamily="2"/>
                <a:cs typeface="Times New Roman" pitchFamily="18" charset="0"/>
              </a:rPr>
              <a:t> Architecture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17"/>
              </a:spcAft>
              <a:buClrTx/>
              <a:buSzPct val="45000"/>
              <a:buFont typeface="Wingdings" pitchFamily="2" charset="2"/>
              <a:buChar char="q"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WenQuanYi Micro Hei" pitchFamily="2"/>
                <a:cs typeface="Times New Roman" pitchFamily="18" charset="0"/>
              </a:rPr>
              <a:t> Cloud Engineering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17"/>
              </a:spcAft>
              <a:buClrTx/>
              <a:buSzPct val="45000"/>
              <a:buFont typeface="Wingdings" pitchFamily="2" charset="2"/>
              <a:buChar char="q"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WenQuanYi Micro Hei" pitchFamily="2"/>
                <a:cs typeface="Times New Roman" pitchFamily="18" charset="0"/>
              </a:rPr>
              <a:t> Security and Privacy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17"/>
              </a:spcAft>
              <a:buClrTx/>
              <a:buSzPct val="45000"/>
              <a:buFont typeface="Wingdings" pitchFamily="2" charset="2"/>
              <a:buChar char="q"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WenQuanYi Micro Hei" pitchFamily="2"/>
                <a:cs typeface="Times New Roman" pitchFamily="18" charset="0"/>
              </a:rPr>
              <a:t> Cloud Clients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417"/>
              </a:spcAft>
              <a:buClrTx/>
              <a:buSzPct val="45000"/>
              <a:buFont typeface="Wingdings" pitchFamily="2" charset="2"/>
              <a:buChar char="q"/>
              <a:tabLst/>
              <a:defRPr/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WenQuanYi Micro Hei" pitchFamily="2"/>
                <a:cs typeface="Times New Roman" pitchFamily="18" charset="0"/>
              </a:rPr>
              <a:t> </a:t>
            </a:r>
            <a:r>
              <a:rPr kumimoji="0" lang="en-US" sz="3600" b="1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WenQuanYi Micro Hei" pitchFamily="2"/>
                <a:cs typeface="Times New Roman" pitchFamily="18" charset="0"/>
              </a:rPr>
              <a:t>Advanatges</a:t>
            </a:r>
            <a:endParaRPr kumimoji="0" lang="en-US" sz="3600" b="1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WenQuanYi Micro Hei" pitchFamily="2"/>
              <a:cs typeface="Times New Roman" pitchFamily="18" charset="0"/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7696200" y="1333500"/>
            <a:ext cx="3951723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0" dirty="0" smtClean="0">
                <a:latin typeface="Stencil" pitchFamily="82" charset="0"/>
                <a:cs typeface="Times New Roman" pitchFamily="18" charset="0"/>
              </a:rPr>
              <a:t>Contents</a:t>
            </a:r>
            <a:endParaRPr lang="en-US" sz="6000" dirty="0">
              <a:latin typeface="Stencil" pitchFamily="82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327855"/>
            <a:ext cx="1028700" cy="8987720"/>
            <a:chOff x="0" y="0"/>
            <a:chExt cx="270933" cy="23671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367136"/>
            </a:xfrm>
            <a:custGeom>
              <a:avLst/>
              <a:gdLst/>
              <a:ahLst/>
              <a:cxnLst/>
              <a:rect l="l" t="t" r="r" b="b"/>
              <a:pathLst>
                <a:path w="270933" h="2367136">
                  <a:moveTo>
                    <a:pt x="0" y="0"/>
                  </a:moveTo>
                  <a:lnTo>
                    <a:pt x="270933" y="0"/>
                  </a:lnTo>
                  <a:lnTo>
                    <a:pt x="270933" y="2367136"/>
                  </a:lnTo>
                  <a:lnTo>
                    <a:pt x="0" y="2367136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2405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028700" cy="1327855"/>
            <a:chOff x="0" y="0"/>
            <a:chExt cx="270933" cy="3497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349723"/>
            </a:xfrm>
            <a:custGeom>
              <a:avLst/>
              <a:gdLst/>
              <a:ahLst/>
              <a:cxnLst/>
              <a:rect l="l" t="t" r="r" b="b"/>
              <a:pathLst>
                <a:path w="270933" h="349723">
                  <a:moveTo>
                    <a:pt x="0" y="0"/>
                  </a:moveTo>
                  <a:lnTo>
                    <a:pt x="270933" y="0"/>
                  </a:lnTo>
                  <a:lnTo>
                    <a:pt x="270933" y="349723"/>
                  </a:lnTo>
                  <a:lnTo>
                    <a:pt x="0" y="349723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87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9618950" y="-7380594"/>
            <a:ext cx="78799" cy="17259300"/>
            <a:chOff x="0" y="0"/>
            <a:chExt cx="20754" cy="45456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54" cy="4545659"/>
            </a:xfrm>
            <a:custGeom>
              <a:avLst/>
              <a:gdLst/>
              <a:ahLst/>
              <a:cxnLst/>
              <a:rect l="l" t="t" r="r" b="b"/>
              <a:pathLst>
                <a:path w="20754" h="4545659">
                  <a:moveTo>
                    <a:pt x="0" y="0"/>
                  </a:moveTo>
                  <a:lnTo>
                    <a:pt x="20754" y="0"/>
                  </a:lnTo>
                  <a:lnTo>
                    <a:pt x="20754" y="4545659"/>
                  </a:lnTo>
                  <a:lnTo>
                    <a:pt x="0" y="4545659"/>
                  </a:lnTo>
                  <a:close/>
                </a:path>
              </a:pathLst>
            </a:custGeom>
            <a:solidFill>
              <a:srgbClr val="BD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754" cy="4583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87973" y="9720383"/>
            <a:ext cx="7492074" cy="451420"/>
            <a:chOff x="0" y="0"/>
            <a:chExt cx="9989432" cy="601894"/>
          </a:xfrm>
        </p:grpSpPr>
        <p:sp>
          <p:nvSpPr>
            <p:cNvPr id="12" name="Freeform 12"/>
            <p:cNvSpPr/>
            <p:nvPr/>
          </p:nvSpPr>
          <p:spPr>
            <a:xfrm>
              <a:off x="651480" y="0"/>
              <a:ext cx="586069" cy="601894"/>
            </a:xfrm>
            <a:custGeom>
              <a:avLst/>
              <a:gdLst/>
              <a:ahLst/>
              <a:cxnLst/>
              <a:rect l="l" t="t" r="r" b="b"/>
              <a:pathLst>
                <a:path w="586069" h="601894">
                  <a:moveTo>
                    <a:pt x="0" y="0"/>
                  </a:moveTo>
                  <a:lnTo>
                    <a:pt x="586068" y="0"/>
                  </a:lnTo>
                  <a:lnTo>
                    <a:pt x="586068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267359" y="0"/>
              <a:ext cx="696718" cy="601894"/>
            </a:xfrm>
            <a:custGeom>
              <a:avLst/>
              <a:gdLst/>
              <a:ahLst/>
              <a:cxnLst/>
              <a:rect l="l" t="t" r="r" b="b"/>
              <a:pathLst>
                <a:path w="696718" h="601894">
                  <a:moveTo>
                    <a:pt x="0" y="0"/>
                  </a:moveTo>
                  <a:lnTo>
                    <a:pt x="696717" y="0"/>
                  </a:lnTo>
                  <a:lnTo>
                    <a:pt x="696717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93887" y="0"/>
              <a:ext cx="627997" cy="601894"/>
            </a:xfrm>
            <a:custGeom>
              <a:avLst/>
              <a:gdLst/>
              <a:ahLst/>
              <a:cxnLst/>
              <a:rect l="l" t="t" r="r" b="b"/>
              <a:pathLst>
                <a:path w="627997" h="601894">
                  <a:moveTo>
                    <a:pt x="0" y="0"/>
                  </a:moveTo>
                  <a:lnTo>
                    <a:pt x="627997" y="0"/>
                  </a:lnTo>
                  <a:lnTo>
                    <a:pt x="627997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print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601894" cy="601894"/>
            </a:xfrm>
            <a:custGeom>
              <a:avLst/>
              <a:gdLst/>
              <a:ahLst/>
              <a:cxnLst/>
              <a:rect l="l" t="t" r="r" b="b"/>
              <a:pathLst>
                <a:path w="601894" h="601894">
                  <a:moveTo>
                    <a:pt x="0" y="0"/>
                  </a:moveTo>
                  <a:lnTo>
                    <a:pt x="601894" y="0"/>
                  </a:lnTo>
                  <a:lnTo>
                    <a:pt x="601894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651694" y="53066"/>
              <a:ext cx="741981" cy="495763"/>
            </a:xfrm>
            <a:custGeom>
              <a:avLst/>
              <a:gdLst/>
              <a:ahLst/>
              <a:cxnLst/>
              <a:rect l="l" t="t" r="r" b="b"/>
              <a:pathLst>
                <a:path w="741981" h="495763">
                  <a:moveTo>
                    <a:pt x="0" y="0"/>
                  </a:moveTo>
                  <a:lnTo>
                    <a:pt x="741981" y="0"/>
                  </a:lnTo>
                  <a:lnTo>
                    <a:pt x="741981" y="495762"/>
                  </a:lnTo>
                  <a:lnTo>
                    <a:pt x="0" y="49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 cstate="print"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 r="-20122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3393675" y="869"/>
              <a:ext cx="6595756" cy="5430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8"/>
                </a:lnSpc>
              </a:pPr>
              <a:r>
                <a:rPr lang="en-US" sz="2413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NIST CLOUD COMPUTING CLUB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9618950" y="889408"/>
            <a:ext cx="78799" cy="17259300"/>
            <a:chOff x="0" y="0"/>
            <a:chExt cx="20754" cy="45456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754" cy="4545659"/>
            </a:xfrm>
            <a:custGeom>
              <a:avLst/>
              <a:gdLst/>
              <a:ahLst/>
              <a:cxnLst/>
              <a:rect l="l" t="t" r="r" b="b"/>
              <a:pathLst>
                <a:path w="20754" h="4545659">
                  <a:moveTo>
                    <a:pt x="0" y="0"/>
                  </a:moveTo>
                  <a:lnTo>
                    <a:pt x="20754" y="0"/>
                  </a:lnTo>
                  <a:lnTo>
                    <a:pt x="20754" y="4545659"/>
                  </a:lnTo>
                  <a:lnTo>
                    <a:pt x="0" y="4545659"/>
                  </a:lnTo>
                  <a:close/>
                </a:path>
              </a:pathLst>
            </a:custGeom>
            <a:solidFill>
              <a:srgbClr val="BD0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754" cy="4583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6288928" y="0"/>
            <a:ext cx="1999072" cy="1249056"/>
          </a:xfrm>
          <a:custGeom>
            <a:avLst/>
            <a:gdLst/>
            <a:ahLst/>
            <a:cxnLst/>
            <a:rect l="l" t="t" r="r" b="b"/>
            <a:pathLst>
              <a:path w="1999072" h="1249056">
                <a:moveTo>
                  <a:pt x="0" y="0"/>
                </a:moveTo>
                <a:lnTo>
                  <a:pt x="1999072" y="0"/>
                </a:lnTo>
                <a:lnTo>
                  <a:pt x="1999072" y="1249056"/>
                </a:lnTo>
                <a:lnTo>
                  <a:pt x="0" y="12490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22516" t="-19610" b="-41045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989458" y="110285"/>
            <a:ext cx="10309083" cy="895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5028" b="1" dirty="0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NIST CLOUD COMPUTING CLUB</a:t>
            </a:r>
          </a:p>
        </p:txBody>
      </p:sp>
      <p:sp>
        <p:nvSpPr>
          <p:cNvPr id="23" name="Freeform 23"/>
          <p:cNvSpPr/>
          <p:nvPr/>
        </p:nvSpPr>
        <p:spPr>
          <a:xfrm>
            <a:off x="9982200" y="2324100"/>
            <a:ext cx="7995538" cy="7380900"/>
          </a:xfrm>
          <a:custGeom>
            <a:avLst/>
            <a:gdLst/>
            <a:ahLst/>
            <a:cxnLst/>
            <a:rect l="l" t="t" r="r" b="b"/>
            <a:pathLst>
              <a:path w="7995538" h="7380900">
                <a:moveTo>
                  <a:pt x="0" y="0"/>
                </a:moveTo>
                <a:lnTo>
                  <a:pt x="7995538" y="0"/>
                </a:lnTo>
                <a:lnTo>
                  <a:pt x="7995538" y="7380900"/>
                </a:lnTo>
                <a:lnTo>
                  <a:pt x="0" y="7380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6000"/>
            </a:blip>
            <a:stretch>
              <a:fillRect l="-2689" t="-14154" r="-2689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28700" y="5929"/>
            <a:ext cx="1557548" cy="1203727"/>
          </a:xfrm>
          <a:custGeom>
            <a:avLst/>
            <a:gdLst/>
            <a:ahLst/>
            <a:cxnLst/>
            <a:rect l="l" t="t" r="r" b="b"/>
            <a:pathLst>
              <a:path w="1557548" h="1203727">
                <a:moveTo>
                  <a:pt x="0" y="0"/>
                </a:moveTo>
                <a:lnTo>
                  <a:pt x="1557548" y="0"/>
                </a:lnTo>
                <a:lnTo>
                  <a:pt x="1557548" y="1203728"/>
                </a:lnTo>
                <a:lnTo>
                  <a:pt x="0" y="1203728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print"/>
            <a:stretch>
              <a:fillRect l="-2689" t="-16906" r="-2689" b="-19446"/>
            </a:stretch>
          </a:blipFill>
        </p:spPr>
      </p:sp>
      <p:sp>
        <p:nvSpPr>
          <p:cNvPr id="25" name="TextBox 25"/>
          <p:cNvSpPr txBox="1"/>
          <p:nvPr/>
        </p:nvSpPr>
        <p:spPr>
          <a:xfrm rot="-5400000">
            <a:off x="-4706867" y="4715308"/>
            <a:ext cx="10309083" cy="89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5028" b="1" dirty="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NIST University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9701333"/>
            <a:ext cx="818347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CopyRights are Resereved At NIST Cloud Computing Club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1562100"/>
            <a:ext cx="7782900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 smtClean="0">
                <a:latin typeface="Times New Roman" pitchFamily="18" charset="0"/>
                <a:cs typeface="Times New Roman" pitchFamily="18" charset="0"/>
              </a:rPr>
              <a:t>What is Cloud Computing?</a:t>
            </a:r>
            <a:endParaRPr lang="en-US" sz="5400" dirty="0"/>
          </a:p>
        </p:txBody>
      </p:sp>
      <p:sp>
        <p:nvSpPr>
          <p:cNvPr id="29" name="Rectangle 28"/>
          <p:cNvSpPr/>
          <p:nvPr/>
        </p:nvSpPr>
        <p:spPr>
          <a:xfrm>
            <a:off x="990600" y="2476500"/>
            <a:ext cx="161544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Cloud computing refers to the delivery of computing services—including servers, storage, databases, networking, software, analytics, and intelligence—over the internet from remote data centers, enabling on-demand access, scalability, and pay-as-you-go pricing without the need to manage physical hardware.</a:t>
            </a:r>
            <a:endParaRPr lang="en-US" sz="2800" dirty="0"/>
          </a:p>
        </p:txBody>
      </p:sp>
      <p:sp>
        <p:nvSpPr>
          <p:cNvPr id="30" name="Rectangle 29"/>
          <p:cNvSpPr/>
          <p:nvPr/>
        </p:nvSpPr>
        <p:spPr>
          <a:xfrm>
            <a:off x="4572000" y="4543336"/>
            <a:ext cx="9144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dirty="0"/>
          </a:p>
        </p:txBody>
      </p:sp>
      <p:sp>
        <p:nvSpPr>
          <p:cNvPr id="31" name="Rectangle 30"/>
          <p:cNvSpPr/>
          <p:nvPr/>
        </p:nvSpPr>
        <p:spPr>
          <a:xfrm>
            <a:off x="1066800" y="4076700"/>
            <a:ext cx="884088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5400" dirty="0" smtClean="0">
                <a:latin typeface="Times New Roman" pitchFamily="18" charset="0"/>
                <a:cs typeface="Times New Roman" pitchFamily="18" charset="0"/>
              </a:rPr>
              <a:t>Cloud Computing Components</a:t>
            </a:r>
            <a:endParaRPr lang="en-IN" sz="5400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13" cstate="print">
            <a:lum/>
            <a:alphaModFix/>
          </a:blip>
          <a:srcRect/>
          <a:stretch>
            <a:fillRect/>
          </a:stretch>
        </p:blipFill>
        <p:spPr>
          <a:xfrm>
            <a:off x="1905000" y="4914900"/>
            <a:ext cx="11125200" cy="40944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327855"/>
            <a:ext cx="1028700" cy="8987720"/>
            <a:chOff x="0" y="0"/>
            <a:chExt cx="270933" cy="23671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367136"/>
            </a:xfrm>
            <a:custGeom>
              <a:avLst/>
              <a:gdLst/>
              <a:ahLst/>
              <a:cxnLst/>
              <a:rect l="l" t="t" r="r" b="b"/>
              <a:pathLst>
                <a:path w="270933" h="2367136">
                  <a:moveTo>
                    <a:pt x="0" y="0"/>
                  </a:moveTo>
                  <a:lnTo>
                    <a:pt x="270933" y="0"/>
                  </a:lnTo>
                  <a:lnTo>
                    <a:pt x="270933" y="2367136"/>
                  </a:lnTo>
                  <a:lnTo>
                    <a:pt x="0" y="2367136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2405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028700" cy="1327855"/>
            <a:chOff x="0" y="0"/>
            <a:chExt cx="270933" cy="3497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349723"/>
            </a:xfrm>
            <a:custGeom>
              <a:avLst/>
              <a:gdLst/>
              <a:ahLst/>
              <a:cxnLst/>
              <a:rect l="l" t="t" r="r" b="b"/>
              <a:pathLst>
                <a:path w="270933" h="349723">
                  <a:moveTo>
                    <a:pt x="0" y="0"/>
                  </a:moveTo>
                  <a:lnTo>
                    <a:pt x="270933" y="0"/>
                  </a:lnTo>
                  <a:lnTo>
                    <a:pt x="270933" y="349723"/>
                  </a:lnTo>
                  <a:lnTo>
                    <a:pt x="0" y="349723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87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9618950" y="-7380594"/>
            <a:ext cx="78799" cy="17259300"/>
            <a:chOff x="0" y="0"/>
            <a:chExt cx="20754" cy="45456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54" cy="4545659"/>
            </a:xfrm>
            <a:custGeom>
              <a:avLst/>
              <a:gdLst/>
              <a:ahLst/>
              <a:cxnLst/>
              <a:rect l="l" t="t" r="r" b="b"/>
              <a:pathLst>
                <a:path w="20754" h="4545659">
                  <a:moveTo>
                    <a:pt x="0" y="0"/>
                  </a:moveTo>
                  <a:lnTo>
                    <a:pt x="20754" y="0"/>
                  </a:lnTo>
                  <a:lnTo>
                    <a:pt x="20754" y="4545659"/>
                  </a:lnTo>
                  <a:lnTo>
                    <a:pt x="0" y="4545659"/>
                  </a:lnTo>
                  <a:close/>
                </a:path>
              </a:pathLst>
            </a:custGeom>
            <a:solidFill>
              <a:srgbClr val="BD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754" cy="4583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87973" y="9720383"/>
            <a:ext cx="7492074" cy="451420"/>
            <a:chOff x="0" y="0"/>
            <a:chExt cx="9989432" cy="601894"/>
          </a:xfrm>
        </p:grpSpPr>
        <p:sp>
          <p:nvSpPr>
            <p:cNvPr id="12" name="Freeform 12"/>
            <p:cNvSpPr/>
            <p:nvPr/>
          </p:nvSpPr>
          <p:spPr>
            <a:xfrm>
              <a:off x="651480" y="0"/>
              <a:ext cx="586069" cy="601894"/>
            </a:xfrm>
            <a:custGeom>
              <a:avLst/>
              <a:gdLst/>
              <a:ahLst/>
              <a:cxnLst/>
              <a:rect l="l" t="t" r="r" b="b"/>
              <a:pathLst>
                <a:path w="586069" h="601894">
                  <a:moveTo>
                    <a:pt x="0" y="0"/>
                  </a:moveTo>
                  <a:lnTo>
                    <a:pt x="586068" y="0"/>
                  </a:lnTo>
                  <a:lnTo>
                    <a:pt x="586068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267359" y="0"/>
              <a:ext cx="696718" cy="601894"/>
            </a:xfrm>
            <a:custGeom>
              <a:avLst/>
              <a:gdLst/>
              <a:ahLst/>
              <a:cxnLst/>
              <a:rect l="l" t="t" r="r" b="b"/>
              <a:pathLst>
                <a:path w="696718" h="601894">
                  <a:moveTo>
                    <a:pt x="0" y="0"/>
                  </a:moveTo>
                  <a:lnTo>
                    <a:pt x="696717" y="0"/>
                  </a:lnTo>
                  <a:lnTo>
                    <a:pt x="696717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93887" y="0"/>
              <a:ext cx="627997" cy="601894"/>
            </a:xfrm>
            <a:custGeom>
              <a:avLst/>
              <a:gdLst/>
              <a:ahLst/>
              <a:cxnLst/>
              <a:rect l="l" t="t" r="r" b="b"/>
              <a:pathLst>
                <a:path w="627997" h="601894">
                  <a:moveTo>
                    <a:pt x="0" y="0"/>
                  </a:moveTo>
                  <a:lnTo>
                    <a:pt x="627997" y="0"/>
                  </a:lnTo>
                  <a:lnTo>
                    <a:pt x="627997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601894" cy="601894"/>
            </a:xfrm>
            <a:custGeom>
              <a:avLst/>
              <a:gdLst/>
              <a:ahLst/>
              <a:cxnLst/>
              <a:rect l="l" t="t" r="r" b="b"/>
              <a:pathLst>
                <a:path w="601894" h="601894">
                  <a:moveTo>
                    <a:pt x="0" y="0"/>
                  </a:moveTo>
                  <a:lnTo>
                    <a:pt x="601894" y="0"/>
                  </a:lnTo>
                  <a:lnTo>
                    <a:pt x="601894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651694" y="53066"/>
              <a:ext cx="741981" cy="495763"/>
            </a:xfrm>
            <a:custGeom>
              <a:avLst/>
              <a:gdLst/>
              <a:ahLst/>
              <a:cxnLst/>
              <a:rect l="l" t="t" r="r" b="b"/>
              <a:pathLst>
                <a:path w="741981" h="495763">
                  <a:moveTo>
                    <a:pt x="0" y="0"/>
                  </a:moveTo>
                  <a:lnTo>
                    <a:pt x="741981" y="0"/>
                  </a:lnTo>
                  <a:lnTo>
                    <a:pt x="741981" y="495762"/>
                  </a:lnTo>
                  <a:lnTo>
                    <a:pt x="0" y="49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 cstate="print">
                <a:extLs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 r="-20122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3393675" y="869"/>
              <a:ext cx="6595756" cy="5430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8"/>
                </a:lnSpc>
              </a:pPr>
              <a:r>
                <a:rPr lang="en-US" sz="2413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NIST CLOUD COMPUTING CLUB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9618950" y="889408"/>
            <a:ext cx="78799" cy="17259300"/>
            <a:chOff x="0" y="0"/>
            <a:chExt cx="20754" cy="45456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754" cy="4545659"/>
            </a:xfrm>
            <a:custGeom>
              <a:avLst/>
              <a:gdLst/>
              <a:ahLst/>
              <a:cxnLst/>
              <a:rect l="l" t="t" r="r" b="b"/>
              <a:pathLst>
                <a:path w="20754" h="4545659">
                  <a:moveTo>
                    <a:pt x="0" y="0"/>
                  </a:moveTo>
                  <a:lnTo>
                    <a:pt x="20754" y="0"/>
                  </a:lnTo>
                  <a:lnTo>
                    <a:pt x="20754" y="4545659"/>
                  </a:lnTo>
                  <a:lnTo>
                    <a:pt x="0" y="4545659"/>
                  </a:lnTo>
                  <a:close/>
                </a:path>
              </a:pathLst>
            </a:custGeom>
            <a:solidFill>
              <a:srgbClr val="BD0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754" cy="4583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6288928" y="0"/>
            <a:ext cx="1999072" cy="1249056"/>
          </a:xfrm>
          <a:custGeom>
            <a:avLst/>
            <a:gdLst/>
            <a:ahLst/>
            <a:cxnLst/>
            <a:rect l="l" t="t" r="r" b="b"/>
            <a:pathLst>
              <a:path w="1999072" h="1249056">
                <a:moveTo>
                  <a:pt x="0" y="0"/>
                </a:moveTo>
                <a:lnTo>
                  <a:pt x="1999072" y="0"/>
                </a:lnTo>
                <a:lnTo>
                  <a:pt x="1999072" y="1249056"/>
                </a:lnTo>
                <a:lnTo>
                  <a:pt x="0" y="12490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22516" t="-19610" b="-41045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989458" y="110285"/>
            <a:ext cx="10309083" cy="895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502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NIST CLOUD COMPUTING CLUB</a:t>
            </a:r>
          </a:p>
        </p:txBody>
      </p:sp>
      <p:sp>
        <p:nvSpPr>
          <p:cNvPr id="24" name="Freeform 24"/>
          <p:cNvSpPr/>
          <p:nvPr/>
        </p:nvSpPr>
        <p:spPr>
          <a:xfrm>
            <a:off x="1028700" y="5929"/>
            <a:ext cx="1557548" cy="1203727"/>
          </a:xfrm>
          <a:custGeom>
            <a:avLst/>
            <a:gdLst/>
            <a:ahLst/>
            <a:cxnLst/>
            <a:rect l="l" t="t" r="r" b="b"/>
            <a:pathLst>
              <a:path w="1557548" h="1203727">
                <a:moveTo>
                  <a:pt x="0" y="0"/>
                </a:moveTo>
                <a:lnTo>
                  <a:pt x="1557548" y="0"/>
                </a:lnTo>
                <a:lnTo>
                  <a:pt x="1557548" y="1203728"/>
                </a:lnTo>
                <a:lnTo>
                  <a:pt x="0" y="1203728"/>
                </a:lnTo>
                <a:lnTo>
                  <a:pt x="0" y="0"/>
                </a:lnTo>
                <a:close/>
              </a:path>
            </a:pathLst>
          </a:custGeom>
          <a:blipFill>
            <a:blip r:embed="rId10" cstate="print"/>
            <a:stretch>
              <a:fillRect l="-2689" t="-16906" r="-2689" b="-19446"/>
            </a:stretch>
          </a:blipFill>
        </p:spPr>
      </p:sp>
      <p:sp>
        <p:nvSpPr>
          <p:cNvPr id="25" name="TextBox 25"/>
          <p:cNvSpPr txBox="1"/>
          <p:nvPr/>
        </p:nvSpPr>
        <p:spPr>
          <a:xfrm rot="-5400000">
            <a:off x="-4706867" y="4715308"/>
            <a:ext cx="10309083" cy="89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5028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NIST University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9701333"/>
            <a:ext cx="818347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CopyRights are Resereved At NIST Cloud Computing Club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629400" y="1257300"/>
            <a:ext cx="451277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 smtClean="0">
                <a:latin typeface="Times New Roman" pitchFamily="18" charset="0"/>
                <a:cs typeface="Times New Roman" pitchFamily="18" charset="0"/>
              </a:rPr>
              <a:t>Service Models</a:t>
            </a:r>
            <a:endParaRPr lang="en-US" sz="5400" dirty="0"/>
          </a:p>
        </p:txBody>
      </p:sp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11"/>
          <a:srcRect/>
          <a:stretch>
            <a:fillRect/>
          </a:stretch>
        </p:blipFill>
        <p:spPr bwMode="auto">
          <a:xfrm>
            <a:off x="1066800" y="2476500"/>
            <a:ext cx="7239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1" name="Picture Placeholder 3"/>
          <p:cNvPicPr>
            <a:picLocks noChangeAspect="1"/>
          </p:cNvPicPr>
          <p:nvPr/>
        </p:nvPicPr>
        <p:blipFill>
          <a:blip r:embed="rId12" cstate="print">
            <a:lum/>
            <a:alphaModFix/>
          </a:blip>
          <a:srcRect/>
          <a:stretch>
            <a:fillRect/>
          </a:stretch>
        </p:blipFill>
        <p:spPr>
          <a:xfrm>
            <a:off x="11277600" y="1943100"/>
            <a:ext cx="6384925" cy="7315200"/>
          </a:xfrm>
          <a:prstGeom prst="rect">
            <a:avLst/>
          </a:prstGeom>
        </p:spPr>
      </p:pic>
      <p:sp>
        <p:nvSpPr>
          <p:cNvPr id="32" name="Freeform 23"/>
          <p:cNvSpPr/>
          <p:nvPr/>
        </p:nvSpPr>
        <p:spPr>
          <a:xfrm>
            <a:off x="5029200" y="2628900"/>
            <a:ext cx="7995538" cy="7380900"/>
          </a:xfrm>
          <a:custGeom>
            <a:avLst/>
            <a:gdLst/>
            <a:ahLst/>
            <a:cxnLst/>
            <a:rect l="l" t="t" r="r" b="b"/>
            <a:pathLst>
              <a:path w="7995538" h="7380900">
                <a:moveTo>
                  <a:pt x="0" y="0"/>
                </a:moveTo>
                <a:lnTo>
                  <a:pt x="7995538" y="0"/>
                </a:lnTo>
                <a:lnTo>
                  <a:pt x="7995538" y="7380900"/>
                </a:lnTo>
                <a:lnTo>
                  <a:pt x="0" y="73809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alphaModFix amt="26000"/>
            </a:blip>
            <a:stretch>
              <a:fillRect l="-2689" t="-14154" r="-2689"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327855"/>
            <a:ext cx="1028700" cy="8987720"/>
            <a:chOff x="0" y="0"/>
            <a:chExt cx="270933" cy="23671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367136"/>
            </a:xfrm>
            <a:custGeom>
              <a:avLst/>
              <a:gdLst/>
              <a:ahLst/>
              <a:cxnLst/>
              <a:rect l="l" t="t" r="r" b="b"/>
              <a:pathLst>
                <a:path w="270933" h="2367136">
                  <a:moveTo>
                    <a:pt x="0" y="0"/>
                  </a:moveTo>
                  <a:lnTo>
                    <a:pt x="270933" y="0"/>
                  </a:lnTo>
                  <a:lnTo>
                    <a:pt x="270933" y="2367136"/>
                  </a:lnTo>
                  <a:lnTo>
                    <a:pt x="0" y="2367136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2405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028700" cy="1327855"/>
            <a:chOff x="0" y="0"/>
            <a:chExt cx="270933" cy="3497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349723"/>
            </a:xfrm>
            <a:custGeom>
              <a:avLst/>
              <a:gdLst/>
              <a:ahLst/>
              <a:cxnLst/>
              <a:rect l="l" t="t" r="r" b="b"/>
              <a:pathLst>
                <a:path w="270933" h="349723">
                  <a:moveTo>
                    <a:pt x="0" y="0"/>
                  </a:moveTo>
                  <a:lnTo>
                    <a:pt x="270933" y="0"/>
                  </a:lnTo>
                  <a:lnTo>
                    <a:pt x="270933" y="349723"/>
                  </a:lnTo>
                  <a:lnTo>
                    <a:pt x="0" y="349723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87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9618950" y="-7380594"/>
            <a:ext cx="78799" cy="17259300"/>
            <a:chOff x="0" y="0"/>
            <a:chExt cx="20754" cy="45456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54" cy="4545659"/>
            </a:xfrm>
            <a:custGeom>
              <a:avLst/>
              <a:gdLst/>
              <a:ahLst/>
              <a:cxnLst/>
              <a:rect l="l" t="t" r="r" b="b"/>
              <a:pathLst>
                <a:path w="20754" h="4545659">
                  <a:moveTo>
                    <a:pt x="0" y="0"/>
                  </a:moveTo>
                  <a:lnTo>
                    <a:pt x="20754" y="0"/>
                  </a:lnTo>
                  <a:lnTo>
                    <a:pt x="20754" y="4545659"/>
                  </a:lnTo>
                  <a:lnTo>
                    <a:pt x="0" y="4545659"/>
                  </a:lnTo>
                  <a:close/>
                </a:path>
              </a:pathLst>
            </a:custGeom>
            <a:solidFill>
              <a:srgbClr val="BD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754" cy="4583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87973" y="9720383"/>
            <a:ext cx="7492074" cy="451420"/>
            <a:chOff x="0" y="0"/>
            <a:chExt cx="9989432" cy="601894"/>
          </a:xfrm>
        </p:grpSpPr>
        <p:sp>
          <p:nvSpPr>
            <p:cNvPr id="12" name="Freeform 12"/>
            <p:cNvSpPr/>
            <p:nvPr/>
          </p:nvSpPr>
          <p:spPr>
            <a:xfrm>
              <a:off x="651480" y="0"/>
              <a:ext cx="586069" cy="601894"/>
            </a:xfrm>
            <a:custGeom>
              <a:avLst/>
              <a:gdLst/>
              <a:ahLst/>
              <a:cxnLst/>
              <a:rect l="l" t="t" r="r" b="b"/>
              <a:pathLst>
                <a:path w="586069" h="601894">
                  <a:moveTo>
                    <a:pt x="0" y="0"/>
                  </a:moveTo>
                  <a:lnTo>
                    <a:pt x="586068" y="0"/>
                  </a:lnTo>
                  <a:lnTo>
                    <a:pt x="586068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267359" y="0"/>
              <a:ext cx="696718" cy="601894"/>
            </a:xfrm>
            <a:custGeom>
              <a:avLst/>
              <a:gdLst/>
              <a:ahLst/>
              <a:cxnLst/>
              <a:rect l="l" t="t" r="r" b="b"/>
              <a:pathLst>
                <a:path w="696718" h="601894">
                  <a:moveTo>
                    <a:pt x="0" y="0"/>
                  </a:moveTo>
                  <a:lnTo>
                    <a:pt x="696717" y="0"/>
                  </a:lnTo>
                  <a:lnTo>
                    <a:pt x="696717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93887" y="0"/>
              <a:ext cx="627997" cy="601894"/>
            </a:xfrm>
            <a:custGeom>
              <a:avLst/>
              <a:gdLst/>
              <a:ahLst/>
              <a:cxnLst/>
              <a:rect l="l" t="t" r="r" b="b"/>
              <a:pathLst>
                <a:path w="627997" h="601894">
                  <a:moveTo>
                    <a:pt x="0" y="0"/>
                  </a:moveTo>
                  <a:lnTo>
                    <a:pt x="627997" y="0"/>
                  </a:lnTo>
                  <a:lnTo>
                    <a:pt x="627997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601894" cy="601894"/>
            </a:xfrm>
            <a:custGeom>
              <a:avLst/>
              <a:gdLst/>
              <a:ahLst/>
              <a:cxnLst/>
              <a:rect l="l" t="t" r="r" b="b"/>
              <a:pathLst>
                <a:path w="601894" h="601894">
                  <a:moveTo>
                    <a:pt x="0" y="0"/>
                  </a:moveTo>
                  <a:lnTo>
                    <a:pt x="601894" y="0"/>
                  </a:lnTo>
                  <a:lnTo>
                    <a:pt x="601894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651694" y="53066"/>
              <a:ext cx="741981" cy="495763"/>
            </a:xfrm>
            <a:custGeom>
              <a:avLst/>
              <a:gdLst/>
              <a:ahLst/>
              <a:cxnLst/>
              <a:rect l="l" t="t" r="r" b="b"/>
              <a:pathLst>
                <a:path w="741981" h="495763">
                  <a:moveTo>
                    <a:pt x="0" y="0"/>
                  </a:moveTo>
                  <a:lnTo>
                    <a:pt x="741981" y="0"/>
                  </a:lnTo>
                  <a:lnTo>
                    <a:pt x="741981" y="495762"/>
                  </a:lnTo>
                  <a:lnTo>
                    <a:pt x="0" y="49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 cstate="print">
                <a:extLst>
                  <a:ext uri="{96DAC541-7B7A-43D3-8B79-37D633B846F1}">
                    <asvg:svgBlip xmlns:asvg="http://schemas.microsoft.com/office/drawing/2016/SVG/main" xmlns="" r:embed="rId8"/>
                  </a:ext>
                </a:extLst>
              </a:blip>
              <a:stretch>
                <a:fillRect r="-20122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3393675" y="869"/>
              <a:ext cx="6595756" cy="5430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8"/>
                </a:lnSpc>
              </a:pPr>
              <a:r>
                <a:rPr lang="en-US" sz="2413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NIST CLOUD COMPUTING CLUB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9618950" y="889408"/>
            <a:ext cx="78799" cy="17259300"/>
            <a:chOff x="0" y="0"/>
            <a:chExt cx="20754" cy="45456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754" cy="4545659"/>
            </a:xfrm>
            <a:custGeom>
              <a:avLst/>
              <a:gdLst/>
              <a:ahLst/>
              <a:cxnLst/>
              <a:rect l="l" t="t" r="r" b="b"/>
              <a:pathLst>
                <a:path w="20754" h="4545659">
                  <a:moveTo>
                    <a:pt x="0" y="0"/>
                  </a:moveTo>
                  <a:lnTo>
                    <a:pt x="20754" y="0"/>
                  </a:lnTo>
                  <a:lnTo>
                    <a:pt x="20754" y="4545659"/>
                  </a:lnTo>
                  <a:lnTo>
                    <a:pt x="0" y="4545659"/>
                  </a:lnTo>
                  <a:close/>
                </a:path>
              </a:pathLst>
            </a:custGeom>
            <a:solidFill>
              <a:srgbClr val="BD0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754" cy="4583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6288928" y="0"/>
            <a:ext cx="1999072" cy="1249056"/>
          </a:xfrm>
          <a:custGeom>
            <a:avLst/>
            <a:gdLst/>
            <a:ahLst/>
            <a:cxnLst/>
            <a:rect l="l" t="t" r="r" b="b"/>
            <a:pathLst>
              <a:path w="1999072" h="1249056">
                <a:moveTo>
                  <a:pt x="0" y="0"/>
                </a:moveTo>
                <a:lnTo>
                  <a:pt x="1999072" y="0"/>
                </a:lnTo>
                <a:lnTo>
                  <a:pt x="1999072" y="1249056"/>
                </a:lnTo>
                <a:lnTo>
                  <a:pt x="0" y="1249056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522516" t="-19610" b="-41045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989458" y="110285"/>
            <a:ext cx="10309083" cy="895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502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NIST CLOUD COMPUTING CLUB</a:t>
            </a:r>
          </a:p>
        </p:txBody>
      </p:sp>
      <p:sp>
        <p:nvSpPr>
          <p:cNvPr id="23" name="Freeform 23"/>
          <p:cNvSpPr/>
          <p:nvPr/>
        </p:nvSpPr>
        <p:spPr>
          <a:xfrm>
            <a:off x="5146231" y="1453050"/>
            <a:ext cx="7995538" cy="7380900"/>
          </a:xfrm>
          <a:custGeom>
            <a:avLst/>
            <a:gdLst/>
            <a:ahLst/>
            <a:cxnLst/>
            <a:rect l="l" t="t" r="r" b="b"/>
            <a:pathLst>
              <a:path w="7995538" h="7380900">
                <a:moveTo>
                  <a:pt x="0" y="0"/>
                </a:moveTo>
                <a:lnTo>
                  <a:pt x="7995538" y="0"/>
                </a:lnTo>
                <a:lnTo>
                  <a:pt x="7995538" y="7380900"/>
                </a:lnTo>
                <a:lnTo>
                  <a:pt x="0" y="73809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6000"/>
            </a:blip>
            <a:stretch>
              <a:fillRect l="-2689" t="-14154" r="-2689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28700" y="5929"/>
            <a:ext cx="1557548" cy="1203727"/>
          </a:xfrm>
          <a:custGeom>
            <a:avLst/>
            <a:gdLst/>
            <a:ahLst/>
            <a:cxnLst/>
            <a:rect l="l" t="t" r="r" b="b"/>
            <a:pathLst>
              <a:path w="1557548" h="1203727">
                <a:moveTo>
                  <a:pt x="0" y="0"/>
                </a:moveTo>
                <a:lnTo>
                  <a:pt x="1557548" y="0"/>
                </a:lnTo>
                <a:lnTo>
                  <a:pt x="1557548" y="1203728"/>
                </a:lnTo>
                <a:lnTo>
                  <a:pt x="0" y="1203728"/>
                </a:lnTo>
                <a:lnTo>
                  <a:pt x="0" y="0"/>
                </a:lnTo>
                <a:close/>
              </a:path>
            </a:pathLst>
          </a:custGeom>
          <a:blipFill>
            <a:blip r:embed="rId11" cstate="print"/>
            <a:stretch>
              <a:fillRect l="-2689" t="-16906" r="-2689" b="-19446"/>
            </a:stretch>
          </a:blipFill>
        </p:spPr>
      </p:sp>
      <p:sp>
        <p:nvSpPr>
          <p:cNvPr id="25" name="TextBox 25"/>
          <p:cNvSpPr txBox="1"/>
          <p:nvPr/>
        </p:nvSpPr>
        <p:spPr>
          <a:xfrm rot="-5400000">
            <a:off x="-4706867" y="4715308"/>
            <a:ext cx="10309083" cy="89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5028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NIST University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9701333"/>
            <a:ext cx="818347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CopyRights are Resereved At NIST Cloud Computing Club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1257300"/>
            <a:ext cx="585929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 smtClean="0">
                <a:latin typeface="Times New Roman" pitchFamily="18" charset="0"/>
                <a:cs typeface="Times New Roman" pitchFamily="18" charset="0"/>
              </a:rPr>
              <a:t>Deployment Models</a:t>
            </a:r>
            <a:endParaRPr lang="en-US" sz="5400" dirty="0"/>
          </a:p>
        </p:txBody>
      </p:sp>
      <p:sp>
        <p:nvSpPr>
          <p:cNvPr id="29" name="Rectangle 28"/>
          <p:cNvSpPr/>
          <p:nvPr/>
        </p:nvSpPr>
        <p:spPr>
          <a:xfrm>
            <a:off x="1447800" y="2857500"/>
            <a:ext cx="14630400" cy="62478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itchFamily="2" charset="2"/>
              <a:buChar char="q"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Public cloud</a:t>
            </a:r>
          </a:p>
          <a:p>
            <a:pPr lvl="1" hangingPunct="0"/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-Done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by service providers</a:t>
            </a:r>
          </a:p>
          <a:p>
            <a:pPr lvl="0">
              <a:buFont typeface="Wingdings" pitchFamily="2" charset="2"/>
              <a:buChar char="q"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Community cloud</a:t>
            </a:r>
          </a:p>
          <a:p>
            <a:pPr lvl="1" hangingPunct="0"/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-organizations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from a specific community with common concerns</a:t>
            </a:r>
          </a:p>
          <a:p>
            <a:pPr lvl="0">
              <a:buFont typeface="Wingdings" pitchFamily="2" charset="2"/>
              <a:buChar char="q"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Private cloud</a:t>
            </a:r>
          </a:p>
          <a:p>
            <a:pPr lvl="1" hangingPunct="0"/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-operated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solely for a single organization</a:t>
            </a:r>
          </a:p>
          <a:p>
            <a:pPr lvl="0">
              <a:buFont typeface="Wingdings" pitchFamily="2" charset="2"/>
              <a:buChar char="q"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Hybrid cloud</a:t>
            </a:r>
          </a:p>
          <a:p>
            <a:pPr lvl="1" hangingPunct="0"/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-composition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of two or more clouds (private, community or public)</a:t>
            </a:r>
          </a:p>
          <a:p>
            <a:pPr lvl="0">
              <a:buFont typeface="Wingdings" pitchFamily="2" charset="2"/>
              <a:buChar char="q"/>
            </a:pP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Private Cloud Rentals</a:t>
            </a:r>
          </a:p>
          <a:p>
            <a:pPr lvl="1" hangingPunct="0"/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-option </a:t>
            </a:r>
            <a:r>
              <a:rPr lang="en-US" sz="4000" dirty="0" smtClean="0">
                <a:latin typeface="Times New Roman" pitchFamily="18" charset="0"/>
                <a:cs typeface="Times New Roman" pitchFamily="18" charset="0"/>
              </a:rPr>
              <a:t>to consider when security is a concern</a:t>
            </a:r>
            <a:endParaRPr lang="en-US" sz="4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327855"/>
            <a:ext cx="1028700" cy="8987720"/>
            <a:chOff x="0" y="0"/>
            <a:chExt cx="270933" cy="236713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0933" cy="2367136"/>
            </a:xfrm>
            <a:custGeom>
              <a:avLst/>
              <a:gdLst/>
              <a:ahLst/>
              <a:cxnLst/>
              <a:rect l="l" t="t" r="r" b="b"/>
              <a:pathLst>
                <a:path w="270933" h="2367136">
                  <a:moveTo>
                    <a:pt x="0" y="0"/>
                  </a:moveTo>
                  <a:lnTo>
                    <a:pt x="270933" y="0"/>
                  </a:lnTo>
                  <a:lnTo>
                    <a:pt x="270933" y="2367136"/>
                  </a:lnTo>
                  <a:lnTo>
                    <a:pt x="0" y="2367136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270933" cy="240523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0"/>
            <a:ext cx="1028700" cy="1327855"/>
            <a:chOff x="0" y="0"/>
            <a:chExt cx="270933" cy="34972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0933" cy="349723"/>
            </a:xfrm>
            <a:custGeom>
              <a:avLst/>
              <a:gdLst/>
              <a:ahLst/>
              <a:cxnLst/>
              <a:rect l="l" t="t" r="r" b="b"/>
              <a:pathLst>
                <a:path w="270933" h="349723">
                  <a:moveTo>
                    <a:pt x="0" y="0"/>
                  </a:moveTo>
                  <a:lnTo>
                    <a:pt x="270933" y="0"/>
                  </a:lnTo>
                  <a:lnTo>
                    <a:pt x="270933" y="349723"/>
                  </a:lnTo>
                  <a:lnTo>
                    <a:pt x="0" y="349723"/>
                  </a:lnTo>
                  <a:close/>
                </a:path>
              </a:pathLst>
            </a:custGeom>
            <a:solidFill>
              <a:srgbClr val="FF914D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70933" cy="38782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5400000">
            <a:off x="9618951" y="-7409150"/>
            <a:ext cx="78799" cy="17259300"/>
            <a:chOff x="0" y="0"/>
            <a:chExt cx="20754" cy="454565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0754" cy="4545659"/>
            </a:xfrm>
            <a:custGeom>
              <a:avLst/>
              <a:gdLst/>
              <a:ahLst/>
              <a:cxnLst/>
              <a:rect l="l" t="t" r="r" b="b"/>
              <a:pathLst>
                <a:path w="20754" h="4545659">
                  <a:moveTo>
                    <a:pt x="0" y="0"/>
                  </a:moveTo>
                  <a:lnTo>
                    <a:pt x="20754" y="0"/>
                  </a:lnTo>
                  <a:lnTo>
                    <a:pt x="20754" y="4545659"/>
                  </a:lnTo>
                  <a:lnTo>
                    <a:pt x="0" y="4545659"/>
                  </a:lnTo>
                  <a:close/>
                </a:path>
              </a:pathLst>
            </a:custGeom>
            <a:solidFill>
              <a:srgbClr val="BD0000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20754" cy="4583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0687973" y="9720383"/>
            <a:ext cx="7492074" cy="451420"/>
            <a:chOff x="0" y="0"/>
            <a:chExt cx="9989432" cy="601894"/>
          </a:xfrm>
        </p:grpSpPr>
        <p:sp>
          <p:nvSpPr>
            <p:cNvPr id="12" name="Freeform 12"/>
            <p:cNvSpPr/>
            <p:nvPr/>
          </p:nvSpPr>
          <p:spPr>
            <a:xfrm>
              <a:off x="651480" y="0"/>
              <a:ext cx="586069" cy="601894"/>
            </a:xfrm>
            <a:custGeom>
              <a:avLst/>
              <a:gdLst/>
              <a:ahLst/>
              <a:cxnLst/>
              <a:rect l="l" t="t" r="r" b="b"/>
              <a:pathLst>
                <a:path w="586069" h="601894">
                  <a:moveTo>
                    <a:pt x="0" y="0"/>
                  </a:moveTo>
                  <a:lnTo>
                    <a:pt x="586068" y="0"/>
                  </a:lnTo>
                  <a:lnTo>
                    <a:pt x="586068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 cstate="print"/>
              <a:stretch>
                <a:fillRect/>
              </a:stretch>
            </a:blipFill>
          </p:spPr>
        </p:sp>
        <p:sp>
          <p:nvSpPr>
            <p:cNvPr id="13" name="Freeform 13"/>
            <p:cNvSpPr/>
            <p:nvPr/>
          </p:nvSpPr>
          <p:spPr>
            <a:xfrm>
              <a:off x="1267359" y="0"/>
              <a:ext cx="696718" cy="601894"/>
            </a:xfrm>
            <a:custGeom>
              <a:avLst/>
              <a:gdLst/>
              <a:ahLst/>
              <a:cxnLst/>
              <a:rect l="l" t="t" r="r" b="b"/>
              <a:pathLst>
                <a:path w="696718" h="601894">
                  <a:moveTo>
                    <a:pt x="0" y="0"/>
                  </a:moveTo>
                  <a:lnTo>
                    <a:pt x="696717" y="0"/>
                  </a:lnTo>
                  <a:lnTo>
                    <a:pt x="696717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 cstate="print"/>
              <a:stretch>
                <a:fillRect/>
              </a:stretch>
            </a:blipFill>
          </p:spPr>
        </p:sp>
        <p:sp>
          <p:nvSpPr>
            <p:cNvPr id="14" name="Freeform 14"/>
            <p:cNvSpPr/>
            <p:nvPr/>
          </p:nvSpPr>
          <p:spPr>
            <a:xfrm>
              <a:off x="1993887" y="0"/>
              <a:ext cx="627997" cy="601894"/>
            </a:xfrm>
            <a:custGeom>
              <a:avLst/>
              <a:gdLst/>
              <a:ahLst/>
              <a:cxnLst/>
              <a:rect l="l" t="t" r="r" b="b"/>
              <a:pathLst>
                <a:path w="627997" h="601894">
                  <a:moveTo>
                    <a:pt x="0" y="0"/>
                  </a:moveTo>
                  <a:lnTo>
                    <a:pt x="627997" y="0"/>
                  </a:lnTo>
                  <a:lnTo>
                    <a:pt x="627997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 cstate="print"/>
              <a:stretch>
                <a:fillRect/>
              </a:stretch>
            </a:blipFill>
          </p:spPr>
        </p:sp>
        <p:sp>
          <p:nvSpPr>
            <p:cNvPr id="15" name="Freeform 15"/>
            <p:cNvSpPr/>
            <p:nvPr/>
          </p:nvSpPr>
          <p:spPr>
            <a:xfrm>
              <a:off x="0" y="0"/>
              <a:ext cx="601894" cy="601894"/>
            </a:xfrm>
            <a:custGeom>
              <a:avLst/>
              <a:gdLst/>
              <a:ahLst/>
              <a:cxnLst/>
              <a:rect l="l" t="t" r="r" b="b"/>
              <a:pathLst>
                <a:path w="601894" h="601894">
                  <a:moveTo>
                    <a:pt x="0" y="0"/>
                  </a:moveTo>
                  <a:lnTo>
                    <a:pt x="601894" y="0"/>
                  </a:lnTo>
                  <a:lnTo>
                    <a:pt x="601894" y="601894"/>
                  </a:lnTo>
                  <a:lnTo>
                    <a:pt x="0" y="60189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xmlns="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Freeform 16"/>
            <p:cNvSpPr/>
            <p:nvPr/>
          </p:nvSpPr>
          <p:spPr>
            <a:xfrm>
              <a:off x="2651694" y="53066"/>
              <a:ext cx="741981" cy="495763"/>
            </a:xfrm>
            <a:custGeom>
              <a:avLst/>
              <a:gdLst/>
              <a:ahLst/>
              <a:cxnLst/>
              <a:rect l="l" t="t" r="r" b="b"/>
              <a:pathLst>
                <a:path w="741981" h="495763">
                  <a:moveTo>
                    <a:pt x="0" y="0"/>
                  </a:moveTo>
                  <a:lnTo>
                    <a:pt x="741981" y="0"/>
                  </a:lnTo>
                  <a:lnTo>
                    <a:pt x="741981" y="495762"/>
                  </a:lnTo>
                  <a:lnTo>
                    <a:pt x="0" y="49576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 cstate="print">
                <a:extLst>
                  <a:ext uri="{96DAC541-7B7A-43D3-8B79-37D633B846F1}">
                    <asvg:svgBlip xmlns:asvg="http://schemas.microsoft.com/office/drawing/2016/SVG/main" xmlns="" r:embed="rId9"/>
                  </a:ext>
                </a:extLst>
              </a:blip>
              <a:stretch>
                <a:fillRect r="-201220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3393675" y="869"/>
              <a:ext cx="6595756" cy="54300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378"/>
                </a:lnSpc>
              </a:pPr>
              <a:r>
                <a:rPr lang="en-US" sz="2413" b="1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NIST CLOUD COMPUTING CLUB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 rot="5400000">
            <a:off x="9618950" y="889408"/>
            <a:ext cx="78799" cy="17259300"/>
            <a:chOff x="0" y="0"/>
            <a:chExt cx="20754" cy="4545659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0754" cy="4545659"/>
            </a:xfrm>
            <a:custGeom>
              <a:avLst/>
              <a:gdLst/>
              <a:ahLst/>
              <a:cxnLst/>
              <a:rect l="l" t="t" r="r" b="b"/>
              <a:pathLst>
                <a:path w="20754" h="4545659">
                  <a:moveTo>
                    <a:pt x="0" y="0"/>
                  </a:moveTo>
                  <a:lnTo>
                    <a:pt x="20754" y="0"/>
                  </a:lnTo>
                  <a:lnTo>
                    <a:pt x="20754" y="4545659"/>
                  </a:lnTo>
                  <a:lnTo>
                    <a:pt x="0" y="4545659"/>
                  </a:lnTo>
                  <a:close/>
                </a:path>
              </a:pathLst>
            </a:custGeom>
            <a:solidFill>
              <a:srgbClr val="BD0000"/>
            </a:solidFill>
          </p:spPr>
        </p:sp>
        <p:sp>
          <p:nvSpPr>
            <p:cNvPr id="20" name="TextBox 20"/>
            <p:cNvSpPr txBox="1"/>
            <p:nvPr/>
          </p:nvSpPr>
          <p:spPr>
            <a:xfrm>
              <a:off x="0" y="-38100"/>
              <a:ext cx="20754" cy="45837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16288928" y="0"/>
            <a:ext cx="1999072" cy="1249056"/>
          </a:xfrm>
          <a:custGeom>
            <a:avLst/>
            <a:gdLst/>
            <a:ahLst/>
            <a:cxnLst/>
            <a:rect l="l" t="t" r="r" b="b"/>
            <a:pathLst>
              <a:path w="1999072" h="1249056">
                <a:moveTo>
                  <a:pt x="0" y="0"/>
                </a:moveTo>
                <a:lnTo>
                  <a:pt x="1999072" y="0"/>
                </a:lnTo>
                <a:lnTo>
                  <a:pt x="1999072" y="1249056"/>
                </a:lnTo>
                <a:lnTo>
                  <a:pt x="0" y="124905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-522516" t="-19610" b="-41045"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3989458" y="110285"/>
            <a:ext cx="10309083" cy="8951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5028" b="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NIST CLOUD COMPUTING CLUB</a:t>
            </a:r>
          </a:p>
        </p:txBody>
      </p:sp>
      <p:sp>
        <p:nvSpPr>
          <p:cNvPr id="23" name="Freeform 23"/>
          <p:cNvSpPr/>
          <p:nvPr/>
        </p:nvSpPr>
        <p:spPr>
          <a:xfrm>
            <a:off x="3505200" y="2628900"/>
            <a:ext cx="7995538" cy="7380900"/>
          </a:xfrm>
          <a:custGeom>
            <a:avLst/>
            <a:gdLst/>
            <a:ahLst/>
            <a:cxnLst/>
            <a:rect l="l" t="t" r="r" b="b"/>
            <a:pathLst>
              <a:path w="7995538" h="7380900">
                <a:moveTo>
                  <a:pt x="0" y="0"/>
                </a:moveTo>
                <a:lnTo>
                  <a:pt x="7995538" y="0"/>
                </a:lnTo>
                <a:lnTo>
                  <a:pt x="7995538" y="7380900"/>
                </a:lnTo>
                <a:lnTo>
                  <a:pt x="0" y="7380900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6000"/>
            </a:blip>
            <a:stretch>
              <a:fillRect l="-2689" t="-14154" r="-2689"/>
            </a:stretch>
          </a:blipFill>
        </p:spPr>
      </p:sp>
      <p:sp>
        <p:nvSpPr>
          <p:cNvPr id="24" name="Freeform 24"/>
          <p:cNvSpPr/>
          <p:nvPr/>
        </p:nvSpPr>
        <p:spPr>
          <a:xfrm>
            <a:off x="1028700" y="5929"/>
            <a:ext cx="1557548" cy="1203727"/>
          </a:xfrm>
          <a:custGeom>
            <a:avLst/>
            <a:gdLst/>
            <a:ahLst/>
            <a:cxnLst/>
            <a:rect l="l" t="t" r="r" b="b"/>
            <a:pathLst>
              <a:path w="1557548" h="1203727">
                <a:moveTo>
                  <a:pt x="0" y="0"/>
                </a:moveTo>
                <a:lnTo>
                  <a:pt x="1557548" y="0"/>
                </a:lnTo>
                <a:lnTo>
                  <a:pt x="1557548" y="1203728"/>
                </a:lnTo>
                <a:lnTo>
                  <a:pt x="0" y="1203728"/>
                </a:lnTo>
                <a:lnTo>
                  <a:pt x="0" y="0"/>
                </a:lnTo>
                <a:close/>
              </a:path>
            </a:pathLst>
          </a:custGeom>
          <a:blipFill>
            <a:blip r:embed="rId12" cstate="print"/>
            <a:stretch>
              <a:fillRect l="-2689" t="-16906" r="-2689" b="-19446"/>
            </a:stretch>
          </a:blipFill>
        </p:spPr>
      </p:sp>
      <p:sp>
        <p:nvSpPr>
          <p:cNvPr id="25" name="TextBox 25"/>
          <p:cNvSpPr txBox="1"/>
          <p:nvPr/>
        </p:nvSpPr>
        <p:spPr>
          <a:xfrm rot="-5400000">
            <a:off x="-4706867" y="4715308"/>
            <a:ext cx="10309083" cy="891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39"/>
              </a:lnSpc>
            </a:pPr>
            <a:r>
              <a:rPr lang="en-US" sz="5028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NIST University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028700" y="9701333"/>
            <a:ext cx="8183475" cy="431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All CopyRights are Resereved At NIST Cloud Computing Club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219200" y="1257300"/>
            <a:ext cx="591700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 smtClean="0">
                <a:latin typeface="Times New Roman" pitchFamily="18" charset="0"/>
                <a:cs typeface="Times New Roman" pitchFamily="18" charset="0"/>
              </a:rPr>
              <a:t>Security and privacy</a:t>
            </a:r>
            <a:endParaRPr lang="en-US" sz="5400" dirty="0"/>
          </a:p>
        </p:txBody>
      </p:sp>
      <p:sp>
        <p:nvSpPr>
          <p:cNvPr id="30" name="Rectangle 29"/>
          <p:cNvSpPr/>
          <p:nvPr/>
        </p:nvSpPr>
        <p:spPr>
          <a:xfrm>
            <a:off x="1219200" y="2552700"/>
            <a:ext cx="9144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buFont typeface="Wingdings" pitchFamily="2" charset="2"/>
              <a:buChar char="Ø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Data protection</a:t>
            </a:r>
          </a:p>
          <a:p>
            <a:pPr lvl="0">
              <a:buFont typeface="Wingdings" pitchFamily="2" charset="2"/>
              <a:buChar char="Ø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Physical Control</a:t>
            </a:r>
          </a:p>
          <a:p>
            <a:pPr lvl="0">
              <a:buFont typeface="Wingdings" pitchFamily="2" charset="2"/>
              <a:buChar char="Ø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Identity management</a:t>
            </a:r>
          </a:p>
          <a:p>
            <a:pPr lvl="0">
              <a:buFont typeface="Wingdings" pitchFamily="2" charset="2"/>
              <a:buChar char="Ø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Physical and personnel security</a:t>
            </a:r>
          </a:p>
          <a:p>
            <a:pPr lvl="0">
              <a:buFont typeface="Wingdings" pitchFamily="2" charset="2"/>
              <a:buChar char="Ø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Availability</a:t>
            </a:r>
          </a:p>
          <a:p>
            <a:pPr lvl="0">
              <a:buFont typeface="Wingdings" pitchFamily="2" charset="2"/>
              <a:buChar char="Ø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Application security</a:t>
            </a:r>
          </a:p>
          <a:p>
            <a:pPr lvl="0">
              <a:buFont typeface="Wingdings" pitchFamily="2" charset="2"/>
              <a:buChar char="Ø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Privacy</a:t>
            </a:r>
          </a:p>
          <a:p>
            <a:pPr lvl="0">
              <a:buFont typeface="Wingdings" pitchFamily="2" charset="2"/>
              <a:buChar char="Ø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Legal issues</a:t>
            </a:r>
            <a:endParaRPr lang="en-US" sz="3600" dirty="0"/>
          </a:p>
        </p:txBody>
      </p:sp>
      <p:sp>
        <p:nvSpPr>
          <p:cNvPr id="31" name="Rectangle 30"/>
          <p:cNvSpPr/>
          <p:nvPr/>
        </p:nvSpPr>
        <p:spPr>
          <a:xfrm>
            <a:off x="8763000" y="1257300"/>
            <a:ext cx="401263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 smtClean="0">
                <a:latin typeface="Times New Roman" pitchFamily="18" charset="0"/>
                <a:cs typeface="Times New Roman" pitchFamily="18" charset="0"/>
              </a:rPr>
              <a:t>Cloud Clients</a:t>
            </a:r>
            <a:endParaRPr lang="en-US" sz="5400" dirty="0"/>
          </a:p>
        </p:txBody>
      </p:sp>
      <p:sp>
        <p:nvSpPr>
          <p:cNvPr id="32" name="Rectangle 31"/>
          <p:cNvSpPr/>
          <p:nvPr/>
        </p:nvSpPr>
        <p:spPr>
          <a:xfrm>
            <a:off x="8610600" y="2476500"/>
            <a:ext cx="9144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lvl="0">
              <a:buFont typeface="Wingdings" pitchFamily="2" charset="2"/>
              <a:buChar char="§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Google Chrome book</a:t>
            </a:r>
          </a:p>
          <a:p>
            <a:pPr lvl="0">
              <a:buFont typeface="Wingdings" pitchFamily="2" charset="2"/>
              <a:buChar char="§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Web browsers</a:t>
            </a:r>
          </a:p>
          <a:p>
            <a:pPr lvl="0">
              <a:buFont typeface="Wingdings" pitchFamily="2" charset="2"/>
              <a:buChar char="§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Company specific  applications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991600" y="4381500"/>
            <a:ext cx="3454792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5400" dirty="0" smtClean="0">
                <a:latin typeface="Times New Roman" pitchFamily="18" charset="0"/>
                <a:cs typeface="Times New Roman" pitchFamily="18" charset="0"/>
              </a:rPr>
              <a:t>Advantages</a:t>
            </a:r>
            <a:endParaRPr lang="en-US" sz="5400" dirty="0"/>
          </a:p>
        </p:txBody>
      </p:sp>
      <p:sp>
        <p:nvSpPr>
          <p:cNvPr id="35" name="Rectangle 34"/>
          <p:cNvSpPr/>
          <p:nvPr/>
        </p:nvSpPr>
        <p:spPr>
          <a:xfrm>
            <a:off x="8610600" y="5372100"/>
            <a:ext cx="9144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Cloud  everyday use</a:t>
            </a:r>
          </a:p>
          <a:p>
            <a:pPr lvl="0">
              <a:buFont typeface="Wingdings" pitchFamily="2" charset="2"/>
              <a:buChar char="§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To save huge amounts of data</a:t>
            </a:r>
          </a:p>
          <a:p>
            <a:pPr lvl="0">
              <a:buFont typeface="Wingdings" pitchFamily="2" charset="2"/>
              <a:buChar char="§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Easier to maintain information</a:t>
            </a:r>
          </a:p>
          <a:p>
            <a:pPr lvl="0">
              <a:buFont typeface="Wingdings" pitchFamily="2" charset="2"/>
              <a:buChar char="§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Makes security easy</a:t>
            </a:r>
          </a:p>
          <a:p>
            <a:pPr lvl="0">
              <a:buFont typeface="Wingdings" pitchFamily="2" charset="2"/>
              <a:buChar char="§"/>
            </a:pPr>
            <a:r>
              <a:rPr lang="en-US" sz="3600" dirty="0" smtClean="0">
                <a:latin typeface="Times New Roman" pitchFamily="18" charset="0"/>
                <a:cs typeface="Times New Roman" pitchFamily="18" charset="0"/>
              </a:rPr>
              <a:t>Maintainability and sustainability are better</a:t>
            </a:r>
            <a:endParaRPr lang="en-US" sz="3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5795</TotalTime>
  <Words>322</Words>
  <Application>Microsoft Office PowerPoint</Application>
  <PresentationFormat>Custom</PresentationFormat>
  <Paragraphs>72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6" baseType="lpstr">
      <vt:lpstr>Arial</vt:lpstr>
      <vt:lpstr>Calibri</vt:lpstr>
      <vt:lpstr>Times New Roman Bold</vt:lpstr>
      <vt:lpstr>Times New Roman</vt:lpstr>
      <vt:lpstr>Matura MT Script Capitals</vt:lpstr>
      <vt:lpstr>Cooper Black</vt:lpstr>
      <vt:lpstr>WenQuanYi Micro Hei</vt:lpstr>
      <vt:lpstr>Wingdings</vt:lpstr>
      <vt:lpstr>Stencil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NIST CLOUD COMPUTING CLUB</dc:title>
  <dc:creator>HP</dc:creator>
  <cp:lastModifiedBy>HP</cp:lastModifiedBy>
  <cp:revision>174</cp:revision>
  <dcterms:created xsi:type="dcterms:W3CDTF">2006-08-16T00:00:00Z</dcterms:created>
  <dcterms:modified xsi:type="dcterms:W3CDTF">2026-01-06T15:36:14Z</dcterms:modified>
  <dc:identifier>DAG3oq77IgY</dc:identifier>
</cp:coreProperties>
</file>